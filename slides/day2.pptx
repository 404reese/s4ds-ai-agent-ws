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S4DS KJSIT PRESENTS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600000"/>
            <a:ext cx="110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Bookman Old Style"/>
              </a:rPr>
              <a:t>AI AGENTS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Bookman Old Style"/>
              </a:rP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70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9C7C2"/>
                </a:solidFill>
                <a:latin typeface="Calibri"/>
              </a:rPr>
              <a:t>Day 2  —  MCP first, then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45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E6E73"/>
                </a:solidFill>
                <a:latin typeface="Calibri"/>
              </a:rPr>
              <a:t>3 hours  ·  use Mindicator MCP  ·  LoRA SFT on Colab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7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Bookman Old Style"/>
              </a:rPr>
              <a:t>Three hours, two halves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7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721C"/>
                </a:solidFill>
                <a:latin typeface="Calibri"/>
              </a:rPr>
              <a:t>0:00–0:20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0" y="17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Project 1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0" y="17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21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721C"/>
                </a:solidFill>
                <a:latin typeface="Calibri"/>
              </a:rPr>
              <a:t>0:20–0:40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000" y="218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What MCP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0" y="218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talk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66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721C"/>
                </a:solidFill>
                <a:latin typeface="Calibri"/>
              </a:rPr>
              <a:t>0:40–1:15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000" y="266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Lab: Mindicator MCP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0000" y="26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labs 0–2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314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721C"/>
                </a:solidFill>
                <a:latin typeface="Calibri"/>
              </a:rPr>
              <a:t>1:15–1:25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0000" y="314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0000" y="314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000" y="362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721C"/>
                </a:solidFill>
                <a:latin typeface="Calibri"/>
              </a:rPr>
              <a:t>1:25–1:45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62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Why fine-tune at 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0000" y="362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talk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" y="410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721C"/>
                </a:solidFill>
                <a:latin typeface="Calibri"/>
              </a:rPr>
              <a:t>1:45–2:10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0000" y="41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Pipeline + LoRA intuition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000" y="410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talk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" y="458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721C"/>
                </a:solidFill>
                <a:latin typeface="Calibri"/>
              </a:rPr>
              <a:t>2:10–2:50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0000" y="458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Hands-on Colab LoRA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0000" y="458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day2_lora.ipynb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5060000"/>
            <a:ext cx="2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721C"/>
                </a:solidFill>
                <a:latin typeface="Calibri"/>
              </a:rPr>
              <a:t>2:50–3:00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0000" y="506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Project 2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0000" y="5060000"/>
            <a:ext cx="3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Calibri"/>
              </a:rPr>
              <a:t>take-home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PROJECT 1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ookman Old Style"/>
              </a:rPr>
              <a:t>What actually broke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8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721C"/>
                </a:solidFill>
                <a:latin typeface="Calibri"/>
              </a:rPr>
              <a:t>1  Vague tool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200000"/>
            <a:ext cx="11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Model guesses WHEN to call. Rewrite triggers, not just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30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721C"/>
                </a:solidFill>
                <a:latin typeface="Calibri"/>
              </a:rPr>
              <a:t>2  Infinite loops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3400000"/>
            <a:ext cx="11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Overlapping tools + no clear stop. max_steps saved the wallet.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42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721C"/>
                </a:solidFill>
                <a:latin typeface="Calibri"/>
              </a:rPr>
              <a:t>3  Hallucinated args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4600000"/>
            <a:ext cx="11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Parameter names unclear. "date" loses to "YYYY-MM-DD".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DAY 1 →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ookman Old Style"/>
              </a:rPr>
              <a:t>Tools left 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80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Day 1: tool = function + docstring inside your .py file</a:t>
            </a:r>
          </a:p>
          <a:p>
            <a:pPr algn="l"/>
            <a:endParaRPr sz="20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1200"/>
              </a:spcBef>
            </a:pPr>
            <a:r>
              <a:rPr sz="2000" b="0">
                <a:solidFill>
                  <a:srgbClr val="FFFFFF"/>
                </a:solidFill>
                <a:latin typeface="Calibri"/>
              </a:rPr>
              <a:t>Day 2: same contract, but the function can live on a server.</a:t>
            </a:r>
          </a:p>
          <a:p>
            <a:pPr algn="l">
              <a:spcBef>
                <a:spcPts val="800"/>
              </a:spcBef>
            </a:pPr>
            <a:r>
              <a:rPr sz="2000" b="0">
                <a:solidFill>
                  <a:srgbClr val="C9C7C2"/>
                </a:solidFill>
                <a:latin typeface="Calibri"/>
              </a:rPr>
              <a:t>You connect with a URL. The ReAct loop does not change.</a:t>
            </a:r>
          </a:p>
          <a:p>
            <a:pPr algn="l"/>
            <a:endParaRPr sz="20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600"/>
              </a:spcBef>
            </a:pPr>
            <a:r>
              <a:rPr sz="2000" b="1">
                <a:solidFill>
                  <a:srgbClr val="E8721C"/>
                </a:solidFill>
                <a:latin typeface="Calibri"/>
              </a:rPr>
              <a:t>MCP = Model Context Protocol — USB for AI tools.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Any MCP client can plug into any MCP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Bookman Old Style"/>
              </a:rPr>
              <a:t>Client, server, tools over HTTP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2000000"/>
            <a:ext cx="3200000" cy="2200000"/>
          </a:xfrm>
          <a:prstGeom prst="round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000" y="2200000"/>
            <a:ext cx="2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721C"/>
                </a:solidFill>
                <a:latin typeface="Calibri"/>
              </a:rPr>
              <a:t>YOU /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800000"/>
            <a:ext cx="2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smolagents decides</a:t>
            </a:r>
          </a:p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Thought →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0000" y="2000000"/>
            <a:ext cx="3200000" cy="2200000"/>
          </a:xfrm>
          <a:prstGeom prst="round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00000" y="2200000"/>
            <a:ext cx="2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721C"/>
                </a:solidFill>
                <a:latin typeface="Calibri"/>
              </a:rPr>
              <a:t>MCP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0000" y="2800000"/>
            <a:ext cx="2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MCPClient loads</a:t>
            </a:r>
          </a:p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tool descriptions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000" y="2000000"/>
            <a:ext cx="3200000" cy="2200000"/>
          </a:xfrm>
          <a:prstGeom prst="round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00000" y="2200000"/>
            <a:ext cx="2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721C"/>
                </a:solidFill>
                <a:latin typeface="Calibri"/>
              </a:rPr>
              <a:t>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800000"/>
            <a:ext cx="28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Runs the real</a:t>
            </a:r>
          </a:p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functions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46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E6E73"/>
                </a:solidFill>
                <a:latin typeface="Calibri"/>
              </a:rPr>
              <a:t>Transport for Mindicator: streamable-http  (FastMCP transport="http")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MINDICATOR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Bookman Old Style"/>
              </a:rPr>
              <a:t>Mumbai transit as four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60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6E73"/>
                </a:solidFill>
                <a:latin typeface="Calibri"/>
              </a:rPr>
              <a:t>Hosted: personal-mindicatormcp…/mcp  — SQLite dump + live trains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3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21C"/>
                </a:solidFill>
                <a:latin typeface="Calibri"/>
              </a:rPr>
              <a:t>health_check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0" y="230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Server + DB alive?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30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21C"/>
                </a:solidFill>
                <a:latin typeface="Calibri"/>
              </a:rPr>
              <a:t>get_schema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0000" y="300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Tables &amp; columns (also in server instructions)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37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21C"/>
                </a:solidFill>
                <a:latin typeface="Calibri"/>
              </a:rPr>
              <a:t>execute_sql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0000" y="370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Read-only SELECT / WITH — ask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4400000"/>
            <a:ext cx="3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21C"/>
                </a:solidFill>
                <a:latin typeface="Calibri"/>
              </a:rPr>
              <a:t>get_live_status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0000" y="440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Live running status for a train number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Bookman Old Style"/>
              </a:rPr>
              <a:t>Ping, then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900000"/>
            <a:ext cx="11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21C"/>
                </a:solidFill>
                <a:latin typeface="Calibri"/>
              </a:rPr>
              <a:t>python day2/00_mcp_ping.py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Connect → list tools → health_check</a:t>
            </a:r>
          </a:p>
          <a:p>
            <a:pPr algn="l"/>
            <a:endParaRPr sz="18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800"/>
              </a:spcBef>
            </a:pPr>
            <a:r>
              <a:rPr sz="2200" b="1">
                <a:solidFill>
                  <a:srgbClr val="E8721C"/>
                </a:solidFill>
                <a:latin typeface="Calibri"/>
              </a:rPr>
              <a:t>python day2/01_what_is_mcp.py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In-process tool vs MCP tool</a:t>
            </a:r>
          </a:p>
          <a:p>
            <a:pPr algn="l"/>
            <a:endParaRPr sz="18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800"/>
              </a:spcBef>
            </a:pPr>
            <a:r>
              <a:rPr sz="2200" b="1">
                <a:solidFill>
                  <a:srgbClr val="E8721C"/>
                </a:solidFill>
                <a:latin typeface="Calibri"/>
              </a:rPr>
              <a:t>python day2/02_mindicator_agent.py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Churchgate → Thane with execute_sql</a:t>
            </a:r>
          </a:p>
          <a:p>
            <a:pPr algn="l"/>
            <a:endParaRPr sz="18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800"/>
              </a:spcBef>
            </a:pPr>
            <a:r>
              <a:rPr sz="1600" b="0">
                <a:solidFill>
                  <a:srgbClr val="6E6E73"/>
                </a:solidFill>
                <a:latin typeface="Calibri"/>
              </a:rPr>
              <a:t>Colab twin: notebooks/day2_labs.ipynb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AGENTIC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Bookman Old Style"/>
              </a:rPr>
              <a:t>execute_sql is the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80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C7C2"/>
                </a:solidFill>
                <a:latin typeface="Calibri"/>
              </a:rPr>
              <a:t>Classic RAG: YOUR code fetches chunks, then asks the model.</a:t>
            </a:r>
          </a:p>
          <a:p>
            <a:pPr algn="l"/>
            <a:endParaRPr sz="18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Agentic RAG: the MODEL decides what to fetch — as a tool call.</a:t>
            </a:r>
          </a:p>
          <a:p>
            <a:pPr algn="l"/>
            <a:endParaRPr sz="18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1400"/>
              </a:spcBef>
            </a:pPr>
            <a:r>
              <a:rPr sz="2000" b="1">
                <a:solidFill>
                  <a:srgbClr val="E8721C"/>
                </a:solidFill>
                <a:latin typeface="Calibri"/>
              </a:rPr>
              <a:t>Mindicator: get_schema → execute_sql → Final Answer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No vector DB lecture today. Same ReAct loop as Day 1.</a:t>
            </a:r>
          </a:p>
          <a:p>
            <a:pPr algn="l"/>
            <a:endParaRPr sz="18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6E6E73"/>
                </a:solidFill>
                <a:latin typeface="Calibri"/>
              </a:rPr>
              <a:t>Try: "auto fare for 5 km at night" / "is train 95338 late?"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LATER — PROJECT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Bookman Old Style"/>
              </a:rPr>
              <a:t>Homework: 2+ MCP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80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Class time: use Mindicator. Homework: compose two plugs.</a:t>
            </a:r>
          </a:p>
          <a:p>
            <a:pPr algn="l"/>
            <a:endParaRPr sz="18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• Mindicator + your FastMCP (mess / weather / …)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• Or Mindicator + any other public MCP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• Task must need BOTH servers</a:t>
            </a:r>
          </a:p>
          <a:p>
            <a:pPr algn="l"/>
            <a:endParaRPr sz="18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E8721C"/>
                </a:solidFill>
                <a:latin typeface="Calibri"/>
              </a:rPr>
              <a:t>We do not build MCP servers in this room.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6E6E73"/>
                </a:solidFill>
                <a:latin typeface="Calibri"/>
              </a:rPr>
              <a:t>Full brief: projects/project-2.md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AFTER THE 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ookman Old Style"/>
              </a:rPr>
              <a:t>Why fine-tune at all?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900000"/>
            <a:ext cx="3200000" cy="2800000"/>
          </a:xfrm>
          <a:prstGeom prst="round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000" y="2100000"/>
            <a:ext cx="2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21C"/>
                </a:solidFill>
                <a:latin typeface="Calibri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800000"/>
            <a:ext cx="2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Behaviour fits</a:t>
            </a:r>
          </a:p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in the system</a:t>
            </a:r>
          </a:p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message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0000" y="1900000"/>
            <a:ext cx="3200000" cy="2800000"/>
          </a:xfrm>
          <a:prstGeom prst="round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00000" y="2100000"/>
            <a:ext cx="2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21C"/>
                </a:solidFill>
                <a:latin typeface="Calibri"/>
              </a:rPr>
              <a:t>TOOLS /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0000" y="2800000"/>
            <a:ext cx="2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Need live data</a:t>
            </a:r>
          </a:p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or actions</a:t>
            </a:r>
          </a:p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(this morning)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000" y="1900000"/>
            <a:ext cx="3200000" cy="2800000"/>
          </a:xfrm>
          <a:prstGeom prst="roundRect">
            <a:avLst/>
          </a:prstGeom>
          <a:solidFill>
            <a:srgbClr val="2A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00000" y="2100000"/>
            <a:ext cx="2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721C"/>
                </a:solidFill>
                <a:latin typeface="Calibri"/>
              </a:rPr>
              <a:t>FINE-TUNE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800000"/>
            <a:ext cx="2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Same format</a:t>
            </a:r>
          </a:p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every time;</a:t>
            </a:r>
          </a:p>
          <a:p>
            <a:pPr algn="l"/>
            <a:r>
              <a:rPr sz="1600" b="0">
                <a:solidFill>
                  <a:srgbClr val="C9C7C2"/>
                </a:solidFill>
                <a:latin typeface="Calibri"/>
              </a:rPr>
              <a:t>prompts keep failing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63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721C"/>
                </a:solidFill>
                <a:latin typeface="Calibri"/>
              </a:rPr>
              <a:t>Function calling can be prompted OR trained. Training bakes the format 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TRAINING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Bookman Old Style"/>
              </a:rPr>
              <a:t>Pretrain → SFT →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8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21C"/>
                </a:solidFill>
                <a:latin typeface="Calibri"/>
              </a:rPr>
              <a:t>1  Pretrain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2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C7C2"/>
                </a:solidFill>
                <a:latin typeface="Calibri"/>
              </a:rPr>
              <a:t>Next-token on the internet. General competence. Expensive.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30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21C"/>
                </a:solidFill>
                <a:latin typeface="Calibri"/>
              </a:rPr>
              <a:t>2  SFT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34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C7C2"/>
                </a:solidFill>
                <a:latin typeface="Calibri"/>
              </a:rPr>
              <a:t>Show demonstrations. Teaches format &amp; helpful style. Today's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42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21C"/>
                </a:solidFill>
                <a:latin typeface="Calibri"/>
              </a:rPr>
              <a:t>3 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46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C7C2"/>
                </a:solidFill>
                <a:latin typeface="Calibri"/>
              </a:rPr>
              <a:t>RLHF / DPO etc. Preferences &amp; safety. Later course, not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LORA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Bookman Old Style"/>
              </a:rPr>
              <a:t>Adapters, not a full retrain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80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Freeze the base model. Train a thin low-rank update (A × B).</a:t>
            </a:r>
          </a:p>
          <a:p>
            <a:pPr algn="l"/>
            <a:endParaRPr sz="1800" b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C9C7C2"/>
                </a:solidFill>
                <a:latin typeface="Calibri"/>
              </a:rPr>
              <a:t>• r = rank (tiny matrices). r=8 is enough for a demo.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C9C7C2"/>
                </a:solidFill>
                <a:latin typeface="Calibri"/>
              </a:rPr>
              <a:t>• You ship the adapter; base weights stay shared.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C9C7C2"/>
                </a:solidFill>
                <a:latin typeface="Calibri"/>
              </a:rPr>
              <a:t>• QLoRA = quantise base further to fit smaller GPUs.</a:t>
            </a:r>
          </a:p>
          <a:p>
            <a:pPr algn="l"/>
            <a:endParaRPr sz="17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400"/>
              </a:spcBef>
            </a:pPr>
            <a:r>
              <a:rPr sz="1800" b="1">
                <a:solidFill>
                  <a:srgbClr val="E8721C"/>
                </a:solidFill>
                <a:latin typeface="Calibri"/>
              </a:rPr>
              <a:t>Mental model: stickers on a frozen textbook.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FUNCTION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Bookman Old Style"/>
              </a:rPr>
              <a:t>Trained behaviour vs prompted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700000"/>
            <a:ext cx="11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C7C2"/>
                </a:solidFill>
                <a:latin typeface="Calibri"/>
              </a:rPr>
              <a:t>Day 1: system prompt + regex / smolagents parses Action: …</a:t>
            </a:r>
          </a:p>
          <a:p>
            <a:pPr algn="l"/>
            <a:endParaRPr sz="17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Some models learn special tokens instead:</a:t>
            </a:r>
          </a:p>
          <a:p>
            <a:pPr algn="l">
              <a:spcBef>
                <a:spcPts val="800"/>
              </a:spcBef>
            </a:pPr>
            <a:r>
              <a:rPr sz="1800" b="1">
                <a:solidFill>
                  <a:srgbClr val="E8721C"/>
                </a:solidFill>
                <a:latin typeface="Calibri"/>
              </a:rPr>
              <a:t>  &lt;think&gt;   &lt;tool_call&gt;   &lt;tool_response&gt;</a:t>
            </a:r>
          </a:p>
          <a:p>
            <a:pPr algn="l"/>
            <a:endParaRPr sz="1800" b="1">
              <a:solidFill>
                <a:srgbClr val="E8721C"/>
              </a:solidFill>
              <a:latin typeface="Calibri"/>
            </a:endParaRPr>
          </a:p>
          <a:p>
            <a:pPr algn="l">
              <a:spcBef>
                <a:spcPts val="1000"/>
              </a:spcBef>
            </a:pPr>
            <a:r>
              <a:rPr sz="1700" b="0">
                <a:solidFill>
                  <a:srgbClr val="C9C7C2"/>
                </a:solidFill>
                <a:latin typeface="Calibri"/>
              </a:rPr>
              <a:t>Still just characters in one string (Day 1 Lab 1).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C9C7C2"/>
                </a:solidFill>
                <a:latin typeface="Calibri"/>
              </a:rPr>
              <a:t>SFT teaches the model to emit them reliably.</a:t>
            </a:r>
          </a:p>
          <a:p>
            <a:pPr algn="l"/>
            <a:endParaRPr sz="17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2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Today's Colab: tiny Qwen + LoRA + Action: name(arg) demos.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Bookman Old Style"/>
              </a:rPr>
              <a:t>Colab LoRA SFT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900000"/>
            <a:ext cx="11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21C"/>
                </a:solidFill>
                <a:latin typeface="Calibri"/>
              </a:rPr>
              <a:t>notebooks/day2_lora.ipynb</a:t>
            </a:r>
          </a:p>
          <a:p>
            <a:pPr algn="l"/>
            <a:endParaRPr sz="2600" b="1">
              <a:solidFill>
                <a:srgbClr val="E8721C"/>
              </a:solidFill>
              <a:latin typeface="Calibri"/>
            </a:endParaRP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Runtime → GPU (T4).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Qwen2.5-0.5B-Instruct + LoRA + TRL SFTTrainer.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C9C7C2"/>
                </a:solidFill>
                <a:latin typeface="Calibri"/>
              </a:rPr>
              <a:t>Short max_steps — feel the loop, not a leaderboard.</a:t>
            </a:r>
          </a:p>
          <a:p>
            <a:pPr algn="l"/>
            <a:endParaRPr sz="1800" b="0">
              <a:solidFill>
                <a:srgbClr val="C9C7C2"/>
              </a:solidFill>
              <a:latin typeface="Calibri"/>
            </a:endParaRP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Compare BEFORE vs AFTER on the same probe prompt.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21C"/>
                </a:solidFill>
                <a:latin typeface="Calibri"/>
              </a:rPr>
              <a:t>TAKE-HOME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900000"/>
            <a:ext cx="11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Bookman Old Style"/>
              </a:rPr>
              <a:t>Project 2 — Compose MCP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700000"/>
            <a:ext cx="11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1   2+ MCP servers in one agent (Mindicator allowed)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250000"/>
            <a:ext cx="11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2   Task that needs BOTH — not one mega-prompt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2800000"/>
            <a:ext cx="11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3   max_steps 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3350000"/>
            <a:ext cx="11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4   3 documented traces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3900000"/>
            <a:ext cx="11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5   3 sentences on what broke when combining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63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721C"/>
                </a:solidFill>
                <a:latin typeface="Calibri"/>
              </a:rPr>
              <a:t>Own FastMCP is allowed — homework only.  projects/project-2.md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860</Words>
  <Application>Microsoft Office PowerPoint</Application>
  <PresentationFormat>Widescreen</PresentationFormat>
  <Paragraphs>162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kevin nadar</cp:lastModifiedBy>
  <cp:revision>3</cp:revision>
  <dcterms:created xsi:type="dcterms:W3CDTF">2013-01-27T09:14:16Z</dcterms:created>
  <dcterms:modified xsi:type="dcterms:W3CDTF">2026-08-13T17:33:19Z</dcterms:modified>
  <cp:category/>
</cp:coreProperties>
</file>