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Set expectation early: this is hands-on, laptops open the whole time. Ask who has run the setup check — if under half the room, spend 10 min on it now.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out: labs are ~60% of the time. This is not a lecture.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the room for a show of hands: who has built a RAG app? Most will have. Then: the agent is that, but the model picks the retrieval step. Keep this slide short.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Draw this on the whiteboard as you talk. Do not skip — everything later refers back.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prevents about 80% of the confusion later. Labour it a little.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around. The 'aha' is seeing &lt;|im_start|&gt; in the repr output.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anyone swapped in the Llama tokenizer, put their output on screen.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Lab 2 runs right after this — keep it to 5 minutes of talking.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 this forward to Project 1 — most of their debugging will be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file together for 5 min BEFORE anyone runs it. Then let them run. Then make everyone delete stop=['Observation:'] and watch it hallucinate. That demo is the single best moment of Day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Ask: did anyone's model hallucinate a plausible-looking temperature? Show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Have them run Lab 4 with verbosity_level=2 and compare the generated system prompt to what they wrote in Lab 3. That comparison lands the point.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Tell them: every one of these is a legitimate answer for the 'what broke' section of Project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rubric aloud. Emphasise that a broken agent with an honest writeup scores well.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asking for one thing each person found surprising. Good pulse check for Day 2 pacing.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-1371600"/>
            <a:ext cx="4754880" cy="4754880"/>
          </a:xfrm>
          <a:prstGeom prst="ellipse">
            <a:avLst/>
          </a:prstGeom>
          <a:solidFill>
            <a:srgbClr val="E8721C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3716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87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S4DS KJSIT PRESENTS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1828800"/>
            <a:ext cx="8229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AI AGENTS</a:t>
            </a:r>
            <a:endParaRPr lang="en-US" sz="5400" dirty="0"/>
          </a:p>
          <a:p>
            <a:pPr indent="0" marL="0">
              <a:lnSpc>
                <a:spcPts val="52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WORKSHOP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822960" y="3977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9C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 —  from a text box to a thing that acts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5120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hours  ·  5 labs  ·  you leave with a deployed agent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7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C1C1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Three hours, five labs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10881360" cy="658368"/>
          </a:xfrm>
          <a:prstGeom prst="roundRect">
            <a:avLst>
              <a:gd name="adj" fmla="val 16667"/>
            </a:avLst>
          </a:prstGeom>
          <a:solidFill>
            <a:srgbClr val="EFEDE8"/>
          </a:solidFill>
          <a:ln w="12700">
            <a:solidFill>
              <a:srgbClr val="E4E2D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463040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72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 min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194560" y="146304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+ what an agent actually is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92640" y="1463040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212848"/>
            <a:ext cx="1088136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4E2D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68680" y="2212848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72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 min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194560" y="2212848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LLM underneath: messages &amp; tokens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692640" y="2212848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87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1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2962656"/>
            <a:ext cx="1088136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4E2D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68680" y="2962656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72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 min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194560" y="2962656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— a function plus a description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692640" y="2962656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87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3712464"/>
            <a:ext cx="1088136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4E2D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68680" y="3712464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72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 min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194560" y="3712464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agent loop by hand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692640" y="3712464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87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3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4462272"/>
            <a:ext cx="1088136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4E2D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68680" y="4462272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72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 min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194560" y="4462272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smolagents + deploy to a Space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692640" y="4462272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87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4-5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0080" y="5212080"/>
            <a:ext cx="10881360" cy="658368"/>
          </a:xfrm>
          <a:prstGeom prst="roundRect">
            <a:avLst>
              <a:gd name="adj" fmla="val 16667"/>
            </a:avLst>
          </a:prstGeom>
          <a:solidFill>
            <a:srgbClr val="EFEDE8"/>
          </a:solidFill>
          <a:ln w="12700">
            <a:solidFill>
              <a:srgbClr val="E4E2D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68680" y="5212080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72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min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2194560" y="521208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1 brief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692640" y="5212080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0080" y="6172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at the 80-minute mark. Say something if you're stuck — don't sit quietly.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7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C1C1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You already know two of these three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3474720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E4E2D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18288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1C1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Chatbot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60120" y="23317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87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from memory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60120" y="2880360"/>
            <a:ext cx="2834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ask. It predicts text.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access to anything.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 at training time.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43400" y="1554480"/>
            <a:ext cx="3474720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E4E2D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663440" y="18288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1C1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RAG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663440" y="23317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87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from documents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663440" y="2880360"/>
            <a:ext cx="2834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ask. Your code fetches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context, then asks.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decide what to fetch.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046720" y="1554480"/>
            <a:ext cx="3474720" cy="3200400"/>
          </a:xfrm>
          <a:prstGeom prst="roundRect">
            <a:avLst>
              <a:gd name="adj" fmla="val 3429"/>
            </a:avLst>
          </a:prstGeom>
          <a:solidFill>
            <a:srgbClr val="1C1C1E"/>
          </a:solidFill>
          <a:ln w="12700">
            <a:solidFill>
              <a:srgbClr val="E4E2D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66760" y="18288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Agent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8366760" y="23317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87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decides and acts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366760" y="2880360"/>
            <a:ext cx="2834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D6D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ask. The MODEL decides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D6D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fetch, does it, looks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D6D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result, decides again.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" y="512064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difference is one word: WHO decides the next step — you, or the model?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7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IDEA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C1C1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An agent is a while-loop over a string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749808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E4E2D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892808"/>
            <a:ext cx="457200" cy="457200"/>
          </a:xfrm>
          <a:prstGeom prst="ellipse">
            <a:avLst/>
          </a:prstGeom>
          <a:solidFill>
            <a:srgbClr val="E8721C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892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00200" y="17830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C1C1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Thought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600200" y="2167128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reasons about what to do next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2834640"/>
            <a:ext cx="749808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E4E2D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14400" y="3127248"/>
            <a:ext cx="457200" cy="457200"/>
          </a:xfrm>
          <a:prstGeom prst="ellipse">
            <a:avLst/>
          </a:prstGeom>
          <a:solidFill>
            <a:srgbClr val="E8721C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1272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600200" y="30175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C1C1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Action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1600200" y="3401568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writes a tool call — as plain text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4069080"/>
            <a:ext cx="749808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E4E2D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14400" y="4361688"/>
            <a:ext cx="457200" cy="457200"/>
          </a:xfrm>
          <a:prstGeom prst="ellipse">
            <a:avLst/>
          </a:prstGeom>
          <a:solidFill>
            <a:srgbClr val="E8721C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3616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600200" y="4251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C1C1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Observation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1600200" y="4636008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code runs it and pastes the result back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503920" y="1600200"/>
            <a:ext cx="3017520" cy="3429000"/>
          </a:xfrm>
          <a:prstGeom prst="roundRect">
            <a:avLst>
              <a:gd name="adj" fmla="val 3636"/>
            </a:avLst>
          </a:prstGeom>
          <a:solidFill>
            <a:srgbClr val="1C1C1E"/>
          </a:solidFill>
          <a:ln/>
        </p:spPr>
      </p:sp>
      <p:sp>
        <p:nvSpPr>
          <p:cNvPr id="20" name="Text 18"/>
          <p:cNvSpPr/>
          <p:nvPr/>
        </p:nvSpPr>
        <p:spPr>
          <a:xfrm>
            <a:off x="8686800" y="201168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until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686800" y="274320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600" b="1" dirty="0">
                <a:solidFill>
                  <a:srgbClr val="E8721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Final</a:t>
            </a:r>
            <a:endParaRPr lang="en-US" sz="2600" dirty="0"/>
          </a:p>
          <a:p>
            <a:pPr algn="ctr" indent="0" marL="0">
              <a:lnSpc>
                <a:spcPts val="2800"/>
              </a:lnSpc>
              <a:buNone/>
            </a:pPr>
            <a:r>
              <a:rPr lang="en-US" sz="2600" b="1" dirty="0">
                <a:solidFill>
                  <a:srgbClr val="E8721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Answer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8686800" y="397764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…or max_steps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 your wallet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0080" y="54864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pattern has a name: ReAct (Reason + Act). Every framework you've heard of is this.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7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C1C1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model does exactly one thing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the next token. That's it.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85800" y="2103120"/>
            <a:ext cx="6400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has no memory between calls.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cannot run code, call an API, or read a file.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cannot decide to do something later.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'agent' capability is your Python doing the work.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498080" y="1463040"/>
            <a:ext cx="4023360" cy="3017520"/>
          </a:xfrm>
          <a:prstGeom prst="roundRect">
            <a:avLst>
              <a:gd name="adj" fmla="val 2424"/>
            </a:avLst>
          </a:prstGeom>
          <a:solidFill>
            <a:srgbClr val="2A2A2E"/>
          </a:solidFill>
          <a:ln w="12700">
            <a:solidFill>
              <a:srgbClr val="2A2A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62672" y="1591056"/>
            <a:ext cx="3694176" cy="276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9B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in:  "The capital of"</a:t>
            </a:r>
            <a:endParaRPr lang="en-US" sz="1200" dirty="0"/>
          </a:p>
          <a:p>
            <a:pPr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8E6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out: " Maharashtra"</a:t>
            </a:r>
            <a:endParaRPr lang="en-US" sz="1200" dirty="0"/>
          </a:p>
          <a:p>
            <a:pPr indent="0" marL="0">
              <a:lnSpc>
                <a:spcPts val="1620"/>
              </a:lnSpc>
              <a:buNone/>
            </a:pPr>
            <a:endParaRPr lang="en-US" sz="1200" dirty="0"/>
          </a:p>
          <a:p>
            <a:pPr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9B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in:  "The capital of Maharashtra"</a:t>
            </a:r>
            <a:endParaRPr lang="en-US" sz="1200" dirty="0"/>
          </a:p>
          <a:p>
            <a:pPr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8E6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out: " is"</a:t>
            </a:r>
            <a:endParaRPr lang="en-US" sz="1200" dirty="0"/>
          </a:p>
          <a:p>
            <a:pPr indent="0" marL="0">
              <a:lnSpc>
                <a:spcPts val="1620"/>
              </a:lnSpc>
              <a:buNone/>
            </a:pPr>
            <a:endParaRPr lang="en-US" sz="1200" dirty="0"/>
          </a:p>
          <a:p>
            <a:pPr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9B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in:  "...Maharashtra is"</a:t>
            </a:r>
            <a:endParaRPr lang="en-US" sz="1200" dirty="0"/>
          </a:p>
          <a:p>
            <a:pPr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872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out: " Mumbai"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4754880"/>
            <a:ext cx="10881360" cy="914400"/>
          </a:xfrm>
          <a:prstGeom prst="roundRect">
            <a:avLst>
              <a:gd name="adj" fmla="val 10000"/>
            </a:avLst>
          </a:prstGeom>
          <a:solidFill>
            <a:srgbClr val="1C1C1E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475488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when someone says "the agent searched the web" — no. The model emitted the text 'search(x)' and your code did the rest.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C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023360"/>
            <a:ext cx="4206240" cy="4206240"/>
          </a:xfrm>
          <a:prstGeom prst="ellipse">
            <a:avLst/>
          </a:prstGeom>
          <a:solidFill>
            <a:srgbClr val="E8721C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9202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E87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2377440"/>
            <a:ext cx="9144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See what the model</a:t>
            </a:r>
            <a:endParaRPr lang="en-US" sz="40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actually receives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914400" y="4297680"/>
            <a:ext cx="7772400" cy="868680"/>
          </a:xfrm>
          <a:prstGeom prst="roundRect">
            <a:avLst>
              <a:gd name="adj" fmla="val 8421"/>
            </a:avLst>
          </a:prstGeom>
          <a:solidFill>
            <a:srgbClr val="2A2A2E"/>
          </a:solidFill>
          <a:ln w="12700">
            <a:solidFill>
              <a:srgbClr val="2A2A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8992" y="4425696"/>
            <a:ext cx="744321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E8E6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day1/01_messages_and_templates.py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0" y="429768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minutes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7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1 DEBRIEF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C1C1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Roles are a costume, not a mechanism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write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5120640" cy="2651760"/>
          </a:xfrm>
          <a:prstGeom prst="roundRect">
            <a:avLst>
              <a:gd name="adj" fmla="val 2759"/>
            </a:avLst>
          </a:prstGeom>
          <a:solidFill>
            <a:srgbClr val="2A2A2E"/>
          </a:solidFill>
          <a:ln w="12700">
            <a:solidFill>
              <a:srgbClr val="2A2A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911096"/>
            <a:ext cx="4791456" cy="2395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8E6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endParaRPr lang="en-US" sz="1200" dirty="0"/>
          </a:p>
          <a:p>
            <a:pPr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8E6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{"role": "system",</a:t>
            </a:r>
            <a:endParaRPr lang="en-US" sz="1200" dirty="0"/>
          </a:p>
          <a:p>
            <a:pPr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8E6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"content": "Be terse."},</a:t>
            </a:r>
            <a:endParaRPr lang="en-US" sz="1200" dirty="0"/>
          </a:p>
          <a:p>
            <a:pPr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8E6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{"role": "user",</a:t>
            </a:r>
            <a:endParaRPr lang="en-US" sz="1200" dirty="0"/>
          </a:p>
          <a:p>
            <a:pPr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8E6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"content": "Capital of MH?"},</a:t>
            </a:r>
            <a:endParaRPr lang="en-US" sz="1200" dirty="0"/>
          </a:p>
          <a:p>
            <a:pPr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8E6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{"role": "assistant",</a:t>
            </a:r>
            <a:endParaRPr lang="en-US" sz="1200" dirty="0"/>
          </a:p>
          <a:p>
            <a:pPr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8E6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"content": "Mumbai."}</a:t>
            </a:r>
            <a:endParaRPr lang="en-US" sz="1200" dirty="0"/>
          </a:p>
          <a:p>
            <a:pPr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8E6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0" y="14173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87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model gets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0" y="1783080"/>
            <a:ext cx="5120640" cy="2651760"/>
          </a:xfrm>
          <a:prstGeom prst="roundRect">
            <a:avLst>
              <a:gd name="adj" fmla="val 2759"/>
            </a:avLst>
          </a:prstGeom>
          <a:solidFill>
            <a:srgbClr val="2A2A2E"/>
          </a:solidFill>
          <a:ln w="12700">
            <a:solidFill>
              <a:srgbClr val="2A2A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65392" y="1911096"/>
            <a:ext cx="4791456" cy="2395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872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&lt;|im_start|&gt;system</a:t>
            </a:r>
            <a:endParaRPr lang="en-US" sz="1200" dirty="0"/>
          </a:p>
          <a:p>
            <a:pPr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8E6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 terse.&lt;|im_end|&gt;</a:t>
            </a:r>
            <a:endParaRPr lang="en-US" sz="1200" dirty="0"/>
          </a:p>
          <a:p>
            <a:pPr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872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&lt;|im_start|&gt;user</a:t>
            </a:r>
            <a:endParaRPr lang="en-US" sz="1200" dirty="0"/>
          </a:p>
          <a:p>
            <a:pPr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8E6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Capital of MH?&lt;|im_end|&gt;</a:t>
            </a:r>
            <a:endParaRPr lang="en-US" sz="1200" dirty="0"/>
          </a:p>
          <a:p>
            <a:pPr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872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&lt;|im_start|&gt;assistant</a:t>
            </a:r>
            <a:endParaRPr lang="en-US" sz="1200" dirty="0"/>
          </a:p>
          <a:p>
            <a:pPr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8E6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Mumbai.&lt;|im_end|&gt;</a:t>
            </a:r>
            <a:endParaRPr lang="en-US" sz="1200" dirty="0"/>
          </a:p>
          <a:p>
            <a:pPr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872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&lt;|im_start|&gt;assistant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484632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model = different template. </a:t>
            </a:r>
            <a:pPr indent="0" marL="0">
              <a:buNone/>
            </a:pPr>
            <a:r>
              <a:rPr lang="en-US" sz="15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why a prompt that works on Llama can quietly break on Qwen — and why 'the system prompt' is just characters at the top of a string.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7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C1C1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 tool is two things taped together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521208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E4E2D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7830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1C1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1.  A Python function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4400" y="224028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part YOU call. Ordinary code.</a:t>
            </a:r>
            <a:endParaRPr lang="en-US" sz="14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never touches it.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309360" y="1554480"/>
            <a:ext cx="5212080" cy="2286000"/>
          </a:xfrm>
          <a:prstGeom prst="roundRect">
            <a:avLst>
              <a:gd name="adj" fmla="val 4800"/>
            </a:avLst>
          </a:prstGeom>
          <a:solidFill>
            <a:srgbClr val="1C1C1E"/>
          </a:solidFill>
          <a:ln w="12700">
            <a:solidFill>
              <a:srgbClr val="E4E2D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83680" y="17830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2.  A text description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583680" y="224028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D6D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part the MODEL sees.</a:t>
            </a:r>
            <a:endParaRPr lang="en-US" sz="14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D6D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a prompt. Treat it like one.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4114800"/>
            <a:ext cx="10881360" cy="1600200"/>
          </a:xfrm>
          <a:prstGeom prst="roundRect">
            <a:avLst>
              <a:gd name="adj" fmla="val 4571"/>
            </a:avLst>
          </a:prstGeom>
          <a:solidFill>
            <a:srgbClr val="2A2A2E"/>
          </a:solidFill>
          <a:ln w="12700">
            <a:solidFill>
              <a:srgbClr val="2A2A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4672" y="4242816"/>
            <a:ext cx="10552176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E872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@tool</a:t>
            </a:r>
            <a:endParaRPr lang="en-US" sz="1300" dirty="0"/>
          </a:p>
          <a:p>
            <a:pPr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E8E6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get_weather(city: str) -&gt; str:</a:t>
            </a:r>
            <a:endParaRPr lang="en-US" sz="1300" dirty="0"/>
          </a:p>
          <a:p>
            <a:pPr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9BE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"""Get current weather for an Indian city.</a:t>
            </a:r>
            <a:endParaRPr lang="en-US" sz="1300" dirty="0"/>
          </a:p>
          <a:p>
            <a:pPr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9BE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Use whenever the user asks about temperature, rain, or humidity."""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585216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the docstring and type hints ARE the description. That's the whole API.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7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#1 REASON AGENTS FAIL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C1C1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Your docstring is your prompt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5212080" cy="35661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4E2D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7830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0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 vague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914400" y="2240280"/>
            <a:ext cx="4663440" cy="914400"/>
          </a:xfrm>
          <a:prstGeom prst="roundRect">
            <a:avLst>
              <a:gd name="adj" fmla="val 8000"/>
            </a:avLst>
          </a:prstGeom>
          <a:solidFill>
            <a:srgbClr val="2A2A2E"/>
          </a:solidFill>
          <a:ln w="12700">
            <a:solidFill>
              <a:srgbClr val="2A2A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8992" y="2368296"/>
            <a:ext cx="43342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8E6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"""gets weather"""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3291840"/>
            <a:ext cx="4663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has to guess: which cities? live or forecast? what if it fails? So it guesses wrong, or calls it for questions that aren't about weather at all.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09360" y="1554480"/>
            <a:ext cx="5212080" cy="35661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4E2D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583680" y="17830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 specific about WHEN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583680" y="2240280"/>
            <a:ext cx="4663440" cy="914400"/>
          </a:xfrm>
          <a:prstGeom prst="roundRect">
            <a:avLst>
              <a:gd name="adj" fmla="val 8000"/>
            </a:avLst>
          </a:prstGeom>
          <a:solidFill>
            <a:srgbClr val="2A2A2E"/>
          </a:solidFill>
          <a:ln w="12700">
            <a:solidFill>
              <a:srgbClr val="2A2A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48272" y="2368296"/>
            <a:ext cx="43342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85"/>
              </a:lnSpc>
              <a:buNone/>
            </a:pPr>
            <a:r>
              <a:rPr lang="en-US" sz="1100" dirty="0">
                <a:solidFill>
                  <a:srgbClr val="E8E6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"""Get current temperature and</a:t>
            </a:r>
            <a:endParaRPr lang="en-US" sz="1100" dirty="0"/>
          </a:p>
          <a:p>
            <a:pPr indent="0" marL="0">
              <a:lnSpc>
                <a:spcPts val="1485"/>
              </a:lnSpc>
              <a:buNone/>
            </a:pPr>
            <a:r>
              <a:rPr lang="en-US" sz="1100" dirty="0">
                <a:solidFill>
                  <a:srgbClr val="E8E6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conditions for one Indian city.</a:t>
            </a:r>
            <a:endParaRPr lang="en-US" sz="1100" dirty="0"/>
          </a:p>
          <a:p>
            <a:pPr indent="0" marL="0">
              <a:lnSpc>
                <a:spcPts val="1485"/>
              </a:lnSpc>
              <a:buNone/>
            </a:pPr>
            <a:r>
              <a:rPr lang="en-US" sz="1100" dirty="0">
                <a:solidFill>
                  <a:srgbClr val="E8E6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for rain, heat, humidity."""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583680" y="3291840"/>
            <a:ext cx="4663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 trigger conditions, not just the behaviour. The model is choosing between your tools with nothing but these lines to go on.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53949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thumb: read your docstring as if you had no other context. Could you pick the right tool?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C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3657600"/>
            <a:ext cx="4572000" cy="4572000"/>
          </a:xfrm>
          <a:prstGeom prst="ellipse">
            <a:avLst/>
          </a:prstGeom>
          <a:solidFill>
            <a:srgbClr val="E8721C">
              <a:alpha val="14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737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E87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3  ·  THE BIG ONE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2194560"/>
            <a:ext cx="9601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Write the agent loop</a:t>
            </a:r>
            <a:endParaRPr lang="en-US" sz="38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yourself. No framework.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914400" y="39319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i="1" dirty="0">
                <a:solidFill>
                  <a:srgbClr val="C9C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this, smolagents / LangGraph / CrewAI are not magic — they are this loop with better error handling.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914400" y="4892040"/>
            <a:ext cx="7772400" cy="822960"/>
          </a:xfrm>
          <a:prstGeom prst="roundRect">
            <a:avLst>
              <a:gd name="adj" fmla="val 8889"/>
            </a:avLst>
          </a:prstGeom>
          <a:solidFill>
            <a:srgbClr val="2A2A2E"/>
          </a:solidFill>
          <a:ln w="12700">
            <a:solidFill>
              <a:srgbClr val="2A2A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8992" y="5020056"/>
            <a:ext cx="74432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E8E6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day1/03_dummy_agent.py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961120" y="489204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minutes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7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3 DEBRIEF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C1C1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One argument separates an agent from a liar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0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stop sequence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5120640" cy="2468880"/>
          </a:xfrm>
          <a:prstGeom prst="roundRect">
            <a:avLst>
              <a:gd name="adj" fmla="val 2963"/>
            </a:avLst>
          </a:prstGeom>
          <a:solidFill>
            <a:srgbClr val="2A2A2E"/>
          </a:solidFill>
          <a:ln w="12700">
            <a:solidFill>
              <a:srgbClr val="2A2A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911096"/>
            <a:ext cx="4791456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8E6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Thought: I should check.</a:t>
            </a:r>
            <a:endParaRPr lang="en-US" sz="1200" dirty="0"/>
          </a:p>
          <a:p>
            <a:pPr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8E6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Action: get_weather(Pune)</a:t>
            </a:r>
            <a:endParaRPr lang="en-US" sz="1200" dirty="0"/>
          </a:p>
          <a:p>
            <a:pPr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FF8A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Observation: 41C, raining</a:t>
            </a:r>
            <a:endParaRPr lang="en-US" sz="1200" dirty="0"/>
          </a:p>
          <a:p>
            <a:pPr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FF8A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 Answer: It's 41C</a:t>
            </a:r>
            <a:endParaRPr lang="en-US" sz="1200" dirty="0"/>
          </a:p>
          <a:p>
            <a:pPr indent="0" marL="0">
              <a:lnSpc>
                <a:spcPts val="1620"/>
              </a:lnSpc>
              <a:buNone/>
            </a:pPr>
            <a:endParaRPr lang="en-US" sz="1200" dirty="0"/>
          </a:p>
          <a:p>
            <a:pPr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9B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the model wrote the</a:t>
            </a:r>
            <a:endParaRPr lang="en-US" sz="1200" dirty="0"/>
          </a:p>
          <a:p>
            <a:pPr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9B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observation itself.</a:t>
            </a:r>
            <a:endParaRPr lang="en-US" sz="1200" dirty="0"/>
          </a:p>
          <a:p>
            <a:pPr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9B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nothing was called.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0" y="14173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stop=["Observation:"]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0" y="1783080"/>
            <a:ext cx="5120640" cy="2468880"/>
          </a:xfrm>
          <a:prstGeom prst="roundRect">
            <a:avLst>
              <a:gd name="adj" fmla="val 2963"/>
            </a:avLst>
          </a:prstGeom>
          <a:solidFill>
            <a:srgbClr val="2A2A2E"/>
          </a:solidFill>
          <a:ln w="12700">
            <a:solidFill>
              <a:srgbClr val="2A2A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65392" y="1911096"/>
            <a:ext cx="4791456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8E6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Thought: I should check.</a:t>
            </a:r>
            <a:endParaRPr lang="en-US" sz="1200" dirty="0"/>
          </a:p>
          <a:p>
            <a:pPr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8E6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Action: get_weather(Pune)</a:t>
            </a:r>
            <a:endParaRPr lang="en-US" sz="1200" dirty="0"/>
          </a:p>
          <a:p>
            <a:pPr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872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&lt;-- generation halts</a:t>
            </a:r>
            <a:endParaRPr lang="en-US" sz="1200" dirty="0"/>
          </a:p>
          <a:p>
            <a:pPr indent="0" marL="0">
              <a:lnSpc>
                <a:spcPts val="1620"/>
              </a:lnSpc>
              <a:buNone/>
            </a:pPr>
            <a:endParaRPr lang="en-US" sz="1200" dirty="0"/>
          </a:p>
          <a:p>
            <a:pPr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9B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your code runs the tool</a:t>
            </a:r>
            <a:endParaRPr lang="en-US" sz="1200" dirty="0"/>
          </a:p>
          <a:p>
            <a:pPr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9B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and appends the real</a:t>
            </a:r>
            <a:endParaRPr lang="en-US" sz="1200" dirty="0"/>
          </a:p>
          <a:p>
            <a:pPr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9B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result before asking</a:t>
            </a:r>
            <a:endParaRPr lang="en-US" sz="1200" dirty="0"/>
          </a:p>
          <a:p>
            <a:pPr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9B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the model again.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4663440"/>
            <a:ext cx="10881360" cy="1005840"/>
          </a:xfrm>
          <a:prstGeom prst="roundRect">
            <a:avLst>
              <a:gd name="adj" fmla="val 9091"/>
            </a:avLst>
          </a:prstGeom>
          <a:solidFill>
            <a:srgbClr val="1C1C1E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466344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will happily continue the whole conversation on its own, playing every role. Your job is to interrupt it at exactly the right token.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7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C1C1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Now let a library do it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you hand-wrote maps to one argument: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85800" y="187452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your system prompt with tool specs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669280" y="18745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7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172200" y="187452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C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generated from @tool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233172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your Action regex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669280" y="23317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7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172200" y="233172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C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built in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85800" y="278892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your observation append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669280" y="27889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7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172200" y="278892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C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built in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85800" y="324612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your MAX_STEPS guard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669280" y="32461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7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172200" y="324612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C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max_steps=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3931920"/>
            <a:ext cx="521208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4E2D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11480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1C1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ToolCallingAgent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914400" y="4526280"/>
            <a:ext cx="4663440" cy="594360"/>
          </a:xfrm>
          <a:prstGeom prst="roundRect">
            <a:avLst>
              <a:gd name="adj" fmla="val 12308"/>
            </a:avLst>
          </a:prstGeom>
          <a:solidFill>
            <a:srgbClr val="2A2A2E"/>
          </a:solidFill>
          <a:ln w="12700">
            <a:solidFill>
              <a:srgbClr val="2A2A2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78992" y="4654296"/>
            <a:ext cx="433425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85"/>
              </a:lnSpc>
              <a:buNone/>
            </a:pPr>
            <a:r>
              <a:rPr lang="en-US" sz="1100" dirty="0">
                <a:solidFill>
                  <a:srgbClr val="E8E6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{"name":"get_weather",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14400" y="52120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Safer, more predictable, one call at a time.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309360" y="3931920"/>
            <a:ext cx="5212080" cy="1783080"/>
          </a:xfrm>
          <a:prstGeom prst="roundRect">
            <a:avLst>
              <a:gd name="adj" fmla="val 6154"/>
            </a:avLst>
          </a:prstGeom>
          <a:solidFill>
            <a:srgbClr val="1C1C1E"/>
          </a:solidFill>
          <a:ln w="12700">
            <a:solidFill>
              <a:srgbClr val="E4E2D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83680" y="411480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721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CodeAgent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6583680" y="4526280"/>
            <a:ext cx="4663440" cy="594360"/>
          </a:xfrm>
          <a:prstGeom prst="roundRect">
            <a:avLst>
              <a:gd name="adj" fmla="val 12308"/>
            </a:avLst>
          </a:prstGeom>
          <a:solidFill>
            <a:srgbClr val="3A3A3E"/>
          </a:solidFill>
          <a:ln w="12700">
            <a:solidFill>
              <a:srgbClr val="3A3A3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48272" y="4654296"/>
            <a:ext cx="433425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85"/>
              </a:lnSpc>
              <a:buNone/>
            </a:pPr>
            <a:r>
              <a:rPr lang="en-US" sz="1100" dirty="0">
                <a:solidFill>
                  <a:srgbClr val="E8E6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 = get_weather('Pune')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583680" y="52120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C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Stronger on multi-step work. LLMs write good Python.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7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WILL GO WRONG TONIGHT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C1C1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Four failures you will definitely hit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10881360" cy="1024128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E4E2D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837944"/>
            <a:ext cx="457200" cy="457200"/>
          </a:xfrm>
          <a:prstGeom prst="ellipse">
            <a:avLst/>
          </a:prstGeom>
          <a:solidFill>
            <a:srgbClr val="E8721C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8379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00200" y="1700784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1C1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It loops forever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600200" y="2084832"/>
            <a:ext cx="9509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tool descriptions overlap, so it can't tell which to use. Rewrite them to name distinct trigger conditions.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2697480"/>
            <a:ext cx="10881360" cy="1024128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E4E2D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14400" y="2980944"/>
            <a:ext cx="457200" cy="457200"/>
          </a:xfrm>
          <a:prstGeom prst="ellipse">
            <a:avLst/>
          </a:prstGeom>
          <a:solidFill>
            <a:srgbClr val="E8721C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29809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600200" y="2843784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1C1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It invents the answer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600200" y="3227832"/>
            <a:ext cx="9509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stop sequence, or a tool that returned an error string it read as data. Print every observation.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3840480"/>
            <a:ext cx="10881360" cy="1024128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E4E2D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14400" y="4123944"/>
            <a:ext cx="457200" cy="457200"/>
          </a:xfrm>
          <a:prstGeom prst="ellipse">
            <a:avLst/>
          </a:prstGeom>
          <a:solidFill>
            <a:srgbClr val="E8721C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1239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600200" y="3986784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1C1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It calls the tool with garbage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600200" y="4370832"/>
            <a:ext cx="9509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parameter name or type hint is unclear. 'date' means nothing; 'date in YYYY-MM-DD' does.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4983480"/>
            <a:ext cx="10881360" cy="1024128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E4E2D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14400" y="5266944"/>
            <a:ext cx="457200" cy="457200"/>
          </a:xfrm>
          <a:prstGeom prst="ellipse">
            <a:avLst/>
          </a:prstGeom>
          <a:solidFill>
            <a:srgbClr val="E8721C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52669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600200" y="5129784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1C1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401 in your Space logs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600200" y="5513832"/>
            <a:ext cx="9509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 named wrong, or you committed your token. It must be exactly HF_TOKEN, set in Settings.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C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7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TAKE-HOME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Project 1 — Ship an Agent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87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before Day 2 starts. We open Day 2 by debugging your submissions live.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10881360" cy="713232"/>
          </a:xfrm>
          <a:prstGeom prst="roundRect">
            <a:avLst>
              <a:gd name="adj" fmla="val 12821"/>
            </a:avLst>
          </a:prstGeom>
          <a:solidFill>
            <a:srgbClr val="2A2A2E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2276856"/>
            <a:ext cx="457200" cy="457200"/>
          </a:xfrm>
          <a:prstGeom prst="ellipse">
            <a:avLst/>
          </a:prstGeom>
          <a:solidFill>
            <a:srgbClr val="E8721C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2768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08760" y="2148840"/>
            <a:ext cx="3931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2+ custom tools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0" y="2148840"/>
            <a:ext cx="5760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least one hitting real data, not a dict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2953512"/>
            <a:ext cx="10881360" cy="713232"/>
          </a:xfrm>
          <a:prstGeom prst="roundRect">
            <a:avLst>
              <a:gd name="adj" fmla="val 12821"/>
            </a:avLst>
          </a:prstGeom>
          <a:solidFill>
            <a:srgbClr val="2A2A2E"/>
          </a:solidFill>
          <a:ln/>
        </p:spPr>
      </p:sp>
      <p:sp>
        <p:nvSpPr>
          <p:cNvPr id="11" name="Shape 9"/>
          <p:cNvSpPr/>
          <p:nvPr/>
        </p:nvSpPr>
        <p:spPr>
          <a:xfrm>
            <a:off x="868680" y="3081528"/>
            <a:ext cx="457200" cy="457200"/>
          </a:xfrm>
          <a:prstGeom prst="ellipse">
            <a:avLst/>
          </a:prstGeom>
          <a:solidFill>
            <a:srgbClr val="E8721C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3081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508760" y="2953512"/>
            <a:ext cx="3931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genuinely multi-step task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486400" y="2953512"/>
            <a:ext cx="5760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one call answers it, make it harder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3758184"/>
            <a:ext cx="10881360" cy="713232"/>
          </a:xfrm>
          <a:prstGeom prst="roundRect">
            <a:avLst>
              <a:gd name="adj" fmla="val 12821"/>
            </a:avLst>
          </a:prstGeom>
          <a:solidFill>
            <a:srgbClr val="2A2A2E"/>
          </a:solidFill>
          <a:ln/>
        </p:spPr>
      </p:sp>
      <p:sp>
        <p:nvSpPr>
          <p:cNvPr id="16" name="Shape 14"/>
          <p:cNvSpPr/>
          <p:nvPr/>
        </p:nvSpPr>
        <p:spPr>
          <a:xfrm>
            <a:off x="868680" y="3886200"/>
            <a:ext cx="457200" cy="457200"/>
          </a:xfrm>
          <a:prstGeom prst="ellipse">
            <a:avLst/>
          </a:prstGeom>
          <a:solidFill>
            <a:srgbClr val="E8721C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508760" y="3758184"/>
            <a:ext cx="3931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public Space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486400" y="3758184"/>
            <a:ext cx="5760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as a secret, never in app.py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0080" y="4562856"/>
            <a:ext cx="10881360" cy="713232"/>
          </a:xfrm>
          <a:prstGeom prst="roundRect">
            <a:avLst>
              <a:gd name="adj" fmla="val 12821"/>
            </a:avLst>
          </a:prstGeom>
          <a:solidFill>
            <a:srgbClr val="2A2A2E"/>
          </a:solidFill>
          <a:ln/>
        </p:spPr>
      </p:sp>
      <p:sp>
        <p:nvSpPr>
          <p:cNvPr id="21" name="Shape 19"/>
          <p:cNvSpPr/>
          <p:nvPr/>
        </p:nvSpPr>
        <p:spPr>
          <a:xfrm>
            <a:off x="868680" y="4690872"/>
            <a:ext cx="457200" cy="457200"/>
          </a:xfrm>
          <a:prstGeom prst="ellipse">
            <a:avLst/>
          </a:prstGeom>
          <a:solidFill>
            <a:srgbClr val="E8721C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" y="46908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508760" y="4562856"/>
            <a:ext cx="3931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documented traces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486400" y="4562856"/>
            <a:ext cx="5760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→ thought → action → observation → answer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40080" y="5367528"/>
            <a:ext cx="10881360" cy="713232"/>
          </a:xfrm>
          <a:prstGeom prst="roundRect">
            <a:avLst>
              <a:gd name="adj" fmla="val 12821"/>
            </a:avLst>
          </a:prstGeom>
          <a:solidFill>
            <a:srgbClr val="2A2A2E"/>
          </a:solidFill>
          <a:ln/>
        </p:spPr>
      </p:sp>
      <p:sp>
        <p:nvSpPr>
          <p:cNvPr id="26" name="Shape 24"/>
          <p:cNvSpPr/>
          <p:nvPr/>
        </p:nvSpPr>
        <p:spPr>
          <a:xfrm>
            <a:off x="868680" y="5495544"/>
            <a:ext cx="457200" cy="457200"/>
          </a:xfrm>
          <a:prstGeom prst="ellipse">
            <a:avLst/>
          </a:prstGeom>
          <a:solidFill>
            <a:srgbClr val="E8721C"/>
          </a:solidFill>
          <a:ln/>
        </p:spPr>
      </p:sp>
      <p:sp>
        <p:nvSpPr>
          <p:cNvPr id="27" name="Text 25"/>
          <p:cNvSpPr/>
          <p:nvPr/>
        </p:nvSpPr>
        <p:spPr>
          <a:xfrm>
            <a:off x="868680" y="54955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508760" y="5367528"/>
            <a:ext cx="3931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sentences on what broke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5486400" y="5367528"/>
            <a:ext cx="5760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worth as much as the working demo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72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Full brief + rubric:  projects/project-1.md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C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3291840"/>
            <a:ext cx="5120640" cy="5120640"/>
          </a:xfrm>
          <a:prstGeom prst="ellipse">
            <a:avLst/>
          </a:prstGeom>
          <a:solidFill>
            <a:srgbClr val="E8721C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371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E87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TOMORROW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9601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Day 2 — better agents,</a:t>
            </a:r>
            <a:endParaRPr lang="en-US" sz="36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then fine-tuning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960120" y="3566160"/>
            <a:ext cx="7315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C9C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tools and agentic RAG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C9C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fine-tune at all — prompt vs tools vs training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C9C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LoRA, and what an adapter actually is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C9C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 a small model for function calling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55778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E87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your Project 1, working or not.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Agents Workshop - Day 1</dc:title>
  <dc:subject>PptxGenJS Presentation</dc:subject>
  <dc:creator>S4DS KJSIT</dc:creator>
  <cp:lastModifiedBy>S4DS KJSIT</cp:lastModifiedBy>
  <cp:revision>1</cp:revision>
  <dcterms:created xsi:type="dcterms:W3CDTF">2026-08-11T14:39:47Z</dcterms:created>
  <dcterms:modified xsi:type="dcterms:W3CDTF">2026-08-11T14:39:47Z</dcterms:modified>
</cp:coreProperties>
</file>